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66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12192000" cy="6858000"/>
  <p:notesSz cx="6858000" cy="12192000"/>
  <p:embeddedFontLst>
    <p:embeddedFont>
      <p:font typeface="Dela Gothic One" panose="020B0604020202020204" charset="-128"/>
      <p:regular r:id="rId14"/>
    </p:embeddedFont>
    <p:embeddedFont>
      <p:font typeface="Arial Black" panose="020B0A04020102020204" pitchFamily="34" charset="0"/>
      <p:bold r:id="rId15"/>
    </p:embeddedFont>
    <p:embeddedFont>
      <p:font typeface="Arial Rounded MT Bold" panose="020F0704030504030204" pitchFamily="34" charset="0"/>
      <p:regular r:id="rId16"/>
    </p:embeddedFont>
    <p:embeddedFont>
      <p:font typeface="Berlin Sans FB Demi" panose="020E0802020502020306" pitchFamily="34" charset="0"/>
      <p:bold r:id="rId17"/>
    </p:embeddedFont>
    <p:embeddedFont>
      <p:font typeface="Century Gothic" panose="020B0502020202020204" pitchFamily="34" charset="0"/>
      <p:regular r:id="rId18"/>
      <p:bold r:id="rId19"/>
      <p:italic r:id="rId20"/>
      <p:boldItalic r:id="rId21"/>
    </p:embeddedFont>
    <p:embeddedFont>
      <p:font typeface="DM Sans" pitchFamily="2" charset="0"/>
      <p:regular r:id="rId22"/>
    </p:embeddedFont>
    <p:embeddedFont>
      <p:font typeface="DM Sans Bold" panose="020B0604020202020204" charset="0"/>
      <p:regular r:id="rId23"/>
    </p:embeddedFont>
    <p:embeddedFont>
      <p:font typeface="Wingdings 3" panose="05040102010807070707" pitchFamily="18" charset="2"/>
      <p:regular r:id="rId2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font" Target="fonts/font4.fntdata"/><Relationship Id="rId18" Type="http://schemas.openxmlformats.org/officeDocument/2006/relationships/font" Target="fonts/font5.fntdata"/><Relationship Id="rId19" Type="http://schemas.openxmlformats.org/officeDocument/2006/relationships/font" Target="fonts/font6.fntdata"/><Relationship Id="rId20" Type="http://schemas.openxmlformats.org/officeDocument/2006/relationships/font" Target="fonts/font7.fntdata"/><Relationship Id="rId21" Type="http://schemas.openxmlformats.org/officeDocument/2006/relationships/font" Target="fonts/font8.fntdata"/><Relationship Id="rId22" Type="http://schemas.openxmlformats.org/officeDocument/2006/relationships/font" Target="fonts/font9.fntdata"/><Relationship Id="rId23" Type="http://schemas.openxmlformats.org/officeDocument/2006/relationships/font" Target="fonts/font10.fntdata"/><Relationship Id="rId24" Type="http://schemas.openxmlformats.org/officeDocument/2006/relationships/font" Target="fonts/font11.fntdata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1064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024842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653745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49241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40947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045520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704124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280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872827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508919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095366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048069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9118315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432264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651584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762873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6573684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998398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937098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Relationship Id="rId20" Type="http://schemas.openxmlformats.org/officeDocument/2006/relationships/image" Target="../media/image2.png"/><Relationship Id="rId21" Type="http://schemas.openxmlformats.org/officeDocument/2006/relationships/image" Target="../media/image3.png"/><Relationship Id="rId22" Type="http://schemas.openxmlformats.org/officeDocument/2006/relationships/image" Target="../media/image4.png"/><Relationship Id="rId23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8393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7" r:id="rId1"/>
    <p:sldLayoutId id="2147483768" r:id="rId2"/>
    <p:sldLayoutId id="2147483769" r:id="rId3"/>
    <p:sldLayoutId id="2147483770" r:id="rId4"/>
    <p:sldLayoutId id="2147483771" r:id="rId5"/>
    <p:sldLayoutId id="2147483772" r:id="rId6"/>
    <p:sldLayoutId id="2147483773" r:id="rId7"/>
    <p:sldLayoutId id="2147483774" r:id="rId8"/>
    <p:sldLayoutId id="2147483775" r:id="rId9"/>
    <p:sldLayoutId id="2147483776" r:id="rId10"/>
    <p:sldLayoutId id="2147483777" r:id="rId11"/>
    <p:sldLayoutId id="2147483778" r:id="rId12"/>
    <p:sldLayoutId id="2147483779" r:id="rId13"/>
    <p:sldLayoutId id="2147483780" r:id="rId14"/>
    <p:sldLayoutId id="2147483781" r:id="rId15"/>
    <p:sldLayoutId id="2147483782" r:id="rId16"/>
    <p:sldLayoutId id="2147483783" r:id="rId17"/>
    <p:sldLayoutId id="2147483784" r:id="rId18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eg"/><Relationship Id="rId4" Type="http://schemas.openxmlformats.org/officeDocument/2006/relationships/image" Target="../media/image8.svg"/><Relationship Id="rId5" Type="http://schemas.openxmlformats.org/officeDocument/2006/relationships/image" Target="../media/image9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jpeg"/><Relationship Id="rId4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jpeg"/><Relationship Id="rId4" Type="http://schemas.openxmlformats.org/officeDocument/2006/relationships/image" Target="../media/image16.jpeg"/><Relationship Id="rId5" Type="http://schemas.openxmlformats.org/officeDocument/2006/relationships/image" Target="../media/image17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slide" Target="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80930" y="348405"/>
            <a:ext cx="6355993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Designing Decoders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4780930" y="1106648"/>
            <a:ext cx="5003098" cy="51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400" b="1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Logic Gates to System Architecture</a:t>
            </a:r>
            <a:endParaRPr lang="en-US" sz="2400" b="1" dirty="0"/>
          </a:p>
        </p:txBody>
      </p:sp>
      <p:sp>
        <p:nvSpPr>
          <p:cNvPr id="5" name="Shape 2"/>
          <p:cNvSpPr/>
          <p:nvPr/>
        </p:nvSpPr>
        <p:spPr>
          <a:xfrm>
            <a:off x="5124807" y="2208825"/>
            <a:ext cx="2136920" cy="516048"/>
          </a:xfrm>
          <a:prstGeom prst="roundRect">
            <a:avLst>
              <a:gd name="adj" fmla="val 22121"/>
            </a:avLst>
          </a:prstGeom>
          <a:solidFill>
            <a:srgbClr val="460707"/>
          </a:solidFill>
          <a:ln/>
        </p:spPr>
        <p:txBody>
          <a:bodyPr/>
          <a:lstStyle/>
          <a:p>
            <a:pPr algn="ctr"/>
            <a:endParaRPr lang="en-IN" dirty="0"/>
          </a:p>
        </p:txBody>
      </p:sp>
      <p:sp>
        <p:nvSpPr>
          <p:cNvPr id="6" name="Text 3"/>
          <p:cNvSpPr/>
          <p:nvPr/>
        </p:nvSpPr>
        <p:spPr>
          <a:xfrm>
            <a:off x="5275478" y="2401558"/>
            <a:ext cx="2136920" cy="323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400" b="1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LOGIC DESIGN</a:t>
            </a:r>
            <a:endParaRPr lang="en-US" sz="1400" b="1" dirty="0"/>
          </a:p>
        </p:txBody>
      </p:sp>
      <p:sp>
        <p:nvSpPr>
          <p:cNvPr id="7" name="Shape 4"/>
          <p:cNvSpPr/>
          <p:nvPr/>
        </p:nvSpPr>
        <p:spPr>
          <a:xfrm>
            <a:off x="7276696" y="2272970"/>
            <a:ext cx="2676407" cy="387757"/>
          </a:xfrm>
          <a:prstGeom prst="roundRect">
            <a:avLst>
              <a:gd name="adj" fmla="val 22121"/>
            </a:avLst>
          </a:prstGeom>
          <a:noFill/>
          <a:ln w="6350">
            <a:solidFill>
              <a:srgbClr val="C91313"/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FFFF00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7412398" y="2401558"/>
            <a:ext cx="2405002" cy="183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400" b="1" dirty="0">
                <a:solidFill>
                  <a:srgbClr val="FFF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COMBINATIONAL CIRCUITS</a:t>
            </a:r>
            <a:endParaRPr lang="en-US" sz="1400" b="1" dirty="0">
              <a:solidFill>
                <a:srgbClr val="FFFF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1045675" y="6556248"/>
            <a:ext cx="1146019" cy="301752"/>
          </a:xfrm>
          <a:prstGeom prst="rect">
            <a:avLst/>
          </a:prstGeom>
          <a:solidFill>
            <a:srgbClr val="0A09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190FFF-EBDA-4982-6B5A-44077A8BCC20}"/>
              </a:ext>
            </a:extLst>
          </p:cNvPr>
          <p:cNvSpPr txBox="1"/>
          <p:nvPr/>
        </p:nvSpPr>
        <p:spPr>
          <a:xfrm>
            <a:off x="4992778" y="3168307"/>
            <a:ext cx="5315714" cy="33167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600"/>
              <a:t>Team members:</a:t>
            </a:r>
          </a:p>
          <a:p>
            <a:r>
              <a:rPr sz="1600"/>
              <a:t>Harish - 2620080071</a:t>
            </a:r>
          </a:p>
          <a:p>
            <a:r>
              <a:rPr sz="1600"/>
              <a:t>Neeraj - 2620080074</a:t>
            </a:r>
          </a:p>
          <a:p>
            <a:r>
              <a:rPr sz="1600"/>
              <a:t>Sneha - 2620080080</a:t>
            </a:r>
          </a:p>
          <a:p>
            <a:r>
              <a:rPr sz="1600"/>
              <a:t>Santhoshi - 2620080081</a:t>
            </a:r>
          </a:p>
          <a:p>
            <a:r>
              <a:rPr sz="1600"/>
              <a:t>Tanush - 2620080120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03794" y="612566"/>
            <a:ext cx="6355993" cy="1753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The Decoder: A Fundamental Building Block</a:t>
            </a:r>
            <a:endParaRPr lang="en-US" sz="36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86563" y="2305539"/>
            <a:ext cx="6355993" cy="172327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343878" y="2510494"/>
            <a:ext cx="2768492" cy="292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FE5E5"/>
                </a:solidFill>
                <a:latin typeface="Arial Black" panose="020B0A04020102020204" pitchFamily="34" charset="0"/>
                <a:ea typeface="Dela Gothic One" pitchFamily="34" charset="-122"/>
                <a:cs typeface="Dela Gothic One" pitchFamily="34" charset="-120"/>
              </a:rPr>
              <a:t>What Is a Decoder?</a:t>
            </a:r>
            <a:endParaRPr lang="en-US" sz="1800" dirty="0">
              <a:latin typeface="Arial Black" panose="020B0A04020102020204" pitchFamily="34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5304800" y="2899851"/>
            <a:ext cx="5886303" cy="846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600" b="1" dirty="0">
                <a:solidFill>
                  <a:srgbClr val="FFE5E5"/>
                </a:solidFill>
                <a:latin typeface="Berlin Sans FB Demi" panose="020E0802020502020306" pitchFamily="34" charset="0"/>
                <a:ea typeface="DM Sans" pitchFamily="34" charset="-122"/>
                <a:cs typeface="DM Sans" pitchFamily="34" charset="-120"/>
              </a:rPr>
              <a:t>A </a:t>
            </a:r>
            <a:r>
              <a:rPr lang="en-US" sz="1600" b="1" dirty="0">
                <a:solidFill>
                  <a:srgbClr val="FFE5E5"/>
                </a:solidFill>
                <a:latin typeface="Arial" panose="020B0604020202020204" pitchFamily="34" charset="0"/>
                <a:ea typeface="DM Sans Bold" pitchFamily="34" charset="-122"/>
                <a:cs typeface="Arial" panose="020B0604020202020204" pitchFamily="34" charset="0"/>
              </a:rPr>
              <a:t>combinational</a:t>
            </a:r>
            <a:r>
              <a:rPr lang="en-US" sz="1600" b="1" dirty="0">
                <a:solidFill>
                  <a:srgbClr val="FFE5E5"/>
                </a:solidFill>
                <a:latin typeface="Berlin Sans FB Demi" panose="020E0802020502020306" pitchFamily="34" charset="0"/>
                <a:ea typeface="DM Sans Bold" pitchFamily="34" charset="-122"/>
                <a:cs typeface="DM Sans Bold" pitchFamily="34" charset="-120"/>
              </a:rPr>
              <a:t> circuit</a:t>
            </a:r>
            <a:r>
              <a:rPr lang="en-US" sz="1600" b="1" dirty="0">
                <a:solidFill>
                  <a:srgbClr val="FFE5E5"/>
                </a:solidFill>
                <a:latin typeface="Berlin Sans FB Demi" panose="020E0802020502020306" pitchFamily="34" charset="0"/>
                <a:ea typeface="DM Sans" pitchFamily="34" charset="-122"/>
                <a:cs typeface="DM Sans" pitchFamily="34" charset="-120"/>
              </a:rPr>
              <a:t> that converts an </a:t>
            </a:r>
            <a:r>
              <a:rPr lang="en-US" sz="1600" b="1" dirty="0">
                <a:solidFill>
                  <a:srgbClr val="C91313"/>
                </a:solidFill>
                <a:latin typeface="Berlin Sans FB Demi" panose="020E0802020502020306" pitchFamily="34" charset="0"/>
                <a:ea typeface="DM Sans" pitchFamily="34" charset="-122"/>
                <a:cs typeface="DM Sans" pitchFamily="34" charset="-120"/>
              </a:rPr>
              <a:t>n-bit binary input</a:t>
            </a:r>
            <a:r>
              <a:rPr lang="en-US" sz="1600" b="1" dirty="0">
                <a:solidFill>
                  <a:srgbClr val="FFE5E5"/>
                </a:solidFill>
                <a:latin typeface="Berlin Sans FB Demi" panose="020E0802020502020306" pitchFamily="34" charset="0"/>
                <a:ea typeface="DM Sans" pitchFamily="34" charset="-122"/>
                <a:cs typeface="DM Sans" pitchFamily="34" charset="-120"/>
              </a:rPr>
              <a:t> into a maximum of </a:t>
            </a:r>
            <a:r>
              <a:rPr lang="en-US" sz="1600" b="1" dirty="0">
                <a:solidFill>
                  <a:srgbClr val="C91313"/>
                </a:solidFill>
                <a:latin typeface="Berlin Sans FB Demi" panose="020E0802020502020306" pitchFamily="34" charset="0"/>
                <a:ea typeface="DM Sans" pitchFamily="34" charset="-122"/>
                <a:cs typeface="DM Sans" pitchFamily="34" charset="-120"/>
              </a:rPr>
              <a:t>2ⁿ discrete outputs</a:t>
            </a:r>
            <a:r>
              <a:rPr lang="en-US" sz="1600" b="1" dirty="0">
                <a:solidFill>
                  <a:srgbClr val="FFE5E5"/>
                </a:solidFill>
                <a:latin typeface="Berlin Sans FB Demi" panose="020E0802020502020306" pitchFamily="34" charset="0"/>
                <a:ea typeface="DM Sans" pitchFamily="34" charset="-122"/>
                <a:cs typeface="DM Sans" pitchFamily="34" charset="-120"/>
              </a:rPr>
              <a:t>. Each unique input combination activates exactly one corresponding output line.</a:t>
            </a:r>
            <a:endParaRPr lang="en-US" sz="1600" b="1" dirty="0">
              <a:latin typeface="Berlin Sans FB Demi" panose="020E0802020502020306" pitchFamily="34" charset="0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10010" y="4227176"/>
            <a:ext cx="6355993" cy="191899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336061" y="4353588"/>
            <a:ext cx="5886303" cy="292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FFE5E5"/>
                </a:solidFill>
                <a:latin typeface="Arial Black" panose="020B0A04020102020204" pitchFamily="34" charset="0"/>
                <a:ea typeface="Dela Gothic One" pitchFamily="34" charset="-122"/>
                <a:cs typeface="Arial" panose="020B0604020202020204" pitchFamily="34" charset="0"/>
              </a:rPr>
              <a:t>How It Works</a:t>
            </a:r>
            <a:endParaRPr lang="en-US" sz="1800" b="1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5359507" y="4758577"/>
            <a:ext cx="5886303" cy="1128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600" b="1" dirty="0">
                <a:solidFill>
                  <a:srgbClr val="FFE5E5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Think of it as a translator: the decoder reads a binary address and "selects" one output wire, leaving all others inactive. This one-hot output behaviour is the cornerstone of address decoding in digital systems.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1045675" y="6556248"/>
            <a:ext cx="1146019" cy="301752"/>
          </a:xfrm>
          <a:prstGeom prst="rect">
            <a:avLst/>
          </a:prstGeom>
          <a:solidFill>
            <a:srgbClr val="0A09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183213" y="96974"/>
            <a:ext cx="5138715" cy="45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FFFF00"/>
                </a:solidFill>
                <a:latin typeface="Arial Rounded MT Bold" panose="020F0704030504030204" pitchFamily="34" charset="0"/>
                <a:ea typeface="Dela Gothic One" pitchFamily="34" charset="-122"/>
                <a:cs typeface="Dela Gothic One" pitchFamily="34" charset="-120"/>
              </a:rPr>
              <a:t>Anatomy of a 2  to  4 Decoder</a:t>
            </a:r>
            <a:endParaRPr lang="en-US" sz="2800" b="1" dirty="0">
              <a:solidFill>
                <a:srgbClr val="FFFF00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213" y="781408"/>
            <a:ext cx="5100648" cy="51007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48674" y="1698502"/>
            <a:ext cx="2962934" cy="66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u="sng" dirty="0">
                <a:solidFill>
                  <a:schemeClr val="accent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Structure &amp; Logic</a:t>
            </a:r>
            <a:endParaRPr lang="en-US" sz="2400" u="sng" dirty="0">
              <a:solidFill>
                <a:schemeClr val="accent1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6241233" y="2300645"/>
            <a:ext cx="5692859" cy="2194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Uses </a:t>
            </a:r>
            <a:r>
              <a:rPr lang="en-US" sz="24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2 input  lines</a:t>
            </a:r>
            <a:r>
              <a:rPr lang="en-US" sz="2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to select one of        </a:t>
            </a:r>
            <a:r>
              <a:rPr lang="en-US" sz="2400" b="1" dirty="0">
                <a:solidFill>
                  <a:srgbClr val="FFF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 unique output lines</a:t>
            </a:r>
            <a:r>
              <a:rPr lang="en-US" sz="2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Implementation requires NOT gates to invert inputs and AND gates to detect each binary combination.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183213" y="6201836"/>
            <a:ext cx="3612564" cy="476845"/>
          </a:xfrm>
          <a:prstGeom prst="roundRect">
            <a:avLst>
              <a:gd name="adj" fmla="val 7951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4"/>
          <p:cNvSpPr/>
          <p:nvPr/>
        </p:nvSpPr>
        <p:spPr>
          <a:xfrm>
            <a:off x="426859" y="6212124"/>
            <a:ext cx="3419489" cy="148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Inputs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76288" y="6455003"/>
            <a:ext cx="3419489" cy="264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A, B (2 bits)</a:t>
            </a:r>
            <a:endParaRPr lang="en-US" sz="1400" b="1" dirty="0"/>
          </a:p>
        </p:txBody>
      </p:sp>
      <p:sp>
        <p:nvSpPr>
          <p:cNvPr id="9" name="Shape 6"/>
          <p:cNvSpPr/>
          <p:nvPr/>
        </p:nvSpPr>
        <p:spPr>
          <a:xfrm>
            <a:off x="3946109" y="6200310"/>
            <a:ext cx="3612564" cy="476845"/>
          </a:xfrm>
          <a:prstGeom prst="roundRect">
            <a:avLst>
              <a:gd name="adj" fmla="val 7951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4084466" y="6228862"/>
            <a:ext cx="3419489" cy="148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Outputs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096441" y="6423521"/>
            <a:ext cx="3419489" cy="20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D0–D3 (4 lines)</a:t>
            </a:r>
            <a:endParaRPr lang="en-US" sz="1400" b="1" dirty="0"/>
          </a:p>
        </p:txBody>
      </p:sp>
      <p:sp>
        <p:nvSpPr>
          <p:cNvPr id="12" name="Shape 9"/>
          <p:cNvSpPr/>
          <p:nvPr/>
        </p:nvSpPr>
        <p:spPr>
          <a:xfrm>
            <a:off x="7796791" y="6162179"/>
            <a:ext cx="3612564" cy="476845"/>
          </a:xfrm>
          <a:prstGeom prst="roundRect">
            <a:avLst>
              <a:gd name="adj" fmla="val 7951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7893328" y="6212124"/>
            <a:ext cx="3419489" cy="148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Example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875662" y="6450595"/>
            <a:ext cx="3419489" cy="108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Input </a:t>
            </a:r>
            <a:r>
              <a:rPr lang="en-US" sz="14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10</a:t>
            </a:r>
            <a:r>
              <a:rPr lang="en-US" sz="1400" b="1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→ D2 active</a:t>
            </a:r>
            <a:endParaRPr lang="en-US" sz="1400" b="1" dirty="0"/>
          </a:p>
        </p:txBody>
      </p:sp>
      <p:sp>
        <p:nvSpPr>
          <p:cNvPr id="15" name="Rectangle 14"/>
          <p:cNvSpPr/>
          <p:nvPr/>
        </p:nvSpPr>
        <p:spPr>
          <a:xfrm>
            <a:off x="11045675" y="6556248"/>
            <a:ext cx="1146019" cy="301752"/>
          </a:xfrm>
          <a:prstGeom prst="rect">
            <a:avLst/>
          </a:prstGeom>
          <a:solidFill>
            <a:srgbClr val="0A09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241140" y="170794"/>
            <a:ext cx="10927878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FFFF00"/>
                </a:solidFill>
                <a:latin typeface="Arial Rounded MT Bold" panose="020F0704030504030204" pitchFamily="34" charset="0"/>
                <a:ea typeface="Dela Gothic One" pitchFamily="34" charset="-122"/>
                <a:cs typeface="Dela Gothic One" pitchFamily="34" charset="-120"/>
              </a:rPr>
              <a:t>Scaling Up: The 3-to-8 Decoder</a:t>
            </a:r>
            <a:endParaRPr lang="en-US" sz="2800" b="1" dirty="0">
              <a:solidFill>
                <a:srgbClr val="FFFF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3456" y="1487926"/>
            <a:ext cx="5353809" cy="65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u="sng" dirty="0">
                <a:solidFill>
                  <a:srgbClr val="FF0000"/>
                </a:solidFill>
                <a:latin typeface="Arial Rounded MT Bold" panose="020F0704030504030204" pitchFamily="34" charset="0"/>
                <a:ea typeface="Dela Gothic One" pitchFamily="34" charset="-122"/>
                <a:cs typeface="Dela Gothic One" pitchFamily="34" charset="-120"/>
              </a:rPr>
              <a:t>Binary-to-Octal Conversion</a:t>
            </a:r>
            <a:endParaRPr lang="en-US" sz="2400" b="1" u="sng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277998" y="2173781"/>
            <a:ext cx="5665286" cy="1280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Expands the concept to </a:t>
            </a:r>
            <a:r>
              <a:rPr lang="en-US" sz="24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3 inputs</a:t>
            </a:r>
            <a:r>
              <a:rPr lang="en-US" sz="2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and   </a:t>
            </a:r>
            <a:r>
              <a:rPr lang="en-US" sz="2400" b="1" dirty="0">
                <a:solidFill>
                  <a:srgbClr val="FFF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 outputs</a:t>
            </a:r>
            <a:r>
              <a:rPr lang="en-US" sz="2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acting as a binary-to-octal converter. Each output represents one octal equivalent of the binary input.</a:t>
            </a:r>
            <a:endParaRPr lang="en-US" sz="2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3818" y="1146183"/>
            <a:ext cx="5098182" cy="509831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3786" y="6406217"/>
            <a:ext cx="3311740" cy="341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00"/>
                </a:solidFill>
                <a:latin typeface="Arial Rounded MT Bold" panose="020F0704030504030204" pitchFamily="34" charset="0"/>
                <a:ea typeface="DM Sans" pitchFamily="34" charset="-122"/>
                <a:cs typeface="DM Sans" pitchFamily="34" charset="-120"/>
              </a:rPr>
              <a:t>3 input lines (A, B, C) encode 8 possible states</a:t>
            </a:r>
            <a:endParaRPr lang="en-US" sz="1200" b="1" dirty="0">
              <a:solidFill>
                <a:srgbClr val="FFFF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3701944" y="6414832"/>
            <a:ext cx="3311740" cy="108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00"/>
                </a:solidFill>
                <a:latin typeface="Arial Rounded MT Bold" panose="020F0704030504030204" pitchFamily="34" charset="0"/>
                <a:ea typeface="DM Sans" pitchFamily="34" charset="-122"/>
                <a:cs typeface="DM Sans" pitchFamily="34" charset="-120"/>
              </a:rPr>
              <a:t>Requires </a:t>
            </a:r>
            <a:r>
              <a:rPr lang="en-US" sz="1200" b="1" dirty="0">
                <a:solidFill>
                  <a:srgbClr val="FFFF00"/>
                </a:solidFill>
                <a:latin typeface="Arial Rounded MT Bold" panose="020F0704030504030204" pitchFamily="34" charset="0"/>
                <a:ea typeface="DM Sans Bold" pitchFamily="34" charset="-122"/>
                <a:cs typeface="DM Sans Bold" pitchFamily="34" charset="-120"/>
              </a:rPr>
              <a:t>3-input AND gates</a:t>
            </a:r>
            <a:r>
              <a:rPr lang="en-US" sz="1200" b="1" dirty="0">
                <a:solidFill>
                  <a:srgbClr val="FFFF00"/>
                </a:solidFill>
                <a:latin typeface="Arial Rounded MT Bold" panose="020F0704030504030204" pitchFamily="34" charset="0"/>
                <a:ea typeface="DM Sans" pitchFamily="34" charset="-122"/>
                <a:cs typeface="DM Sans" pitchFamily="34" charset="-120"/>
              </a:rPr>
              <a:t> for each output</a:t>
            </a:r>
            <a:endParaRPr lang="en-US" sz="1200" b="1" dirty="0">
              <a:solidFill>
                <a:srgbClr val="FFFF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1" name="Text 5"/>
          <p:cNvSpPr/>
          <p:nvPr/>
        </p:nvSpPr>
        <p:spPr>
          <a:xfrm>
            <a:off x="7224133" y="6414832"/>
            <a:ext cx="3311839" cy="108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00"/>
                </a:solidFill>
                <a:latin typeface="Arial Rounded MT Bold" panose="020F0704030504030204" pitchFamily="34" charset="0"/>
                <a:ea typeface="DM Sans" pitchFamily="34" charset="-122"/>
                <a:cs typeface="DM Sans" pitchFamily="34" charset="-120"/>
              </a:rPr>
              <a:t>NOT gates generate all input complements</a:t>
            </a:r>
            <a:endParaRPr lang="en-US" sz="1200" b="1" dirty="0">
              <a:solidFill>
                <a:srgbClr val="FFFF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1045675" y="6556248"/>
            <a:ext cx="1146019" cy="301752"/>
          </a:xfrm>
          <a:prstGeom prst="rect">
            <a:avLst/>
          </a:prstGeom>
          <a:solidFill>
            <a:srgbClr val="0A09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6389" y="771001"/>
            <a:ext cx="5579857" cy="557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FFFF00"/>
                </a:solidFill>
                <a:latin typeface="Arial Rounded MT Bold" panose="020F0704030504030204" pitchFamily="34" charset="0"/>
                <a:ea typeface="Dela Gothic One" pitchFamily="34" charset="-122"/>
                <a:cs typeface="Dela Gothic One" pitchFamily="34" charset="-120"/>
              </a:rPr>
              <a:t>The Power of the Enable Signal</a:t>
            </a:r>
            <a:endParaRPr lang="en-US" sz="2800" b="1" dirty="0">
              <a:solidFill>
                <a:srgbClr val="FFFF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342739" y="1616273"/>
            <a:ext cx="6355993" cy="4145161"/>
          </a:xfrm>
          <a:prstGeom prst="roundRect">
            <a:avLst>
              <a:gd name="adj" fmla="val 1829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49089" y="1622623"/>
            <a:ext cx="3171646" cy="2499618"/>
          </a:xfrm>
          <a:custGeom>
            <a:avLst/>
            <a:gdLst/>
            <a:ahLst/>
            <a:cxnLst/>
            <a:rect l="l" t="t" r="r" b="b"/>
            <a:pathLst>
              <a:path w="3171646" h="2499618">
                <a:moveTo>
                  <a:pt x="63192" y="0"/>
                </a:moveTo>
                <a:lnTo>
                  <a:pt x="3171646" y="0"/>
                </a:lnTo>
                <a:lnTo>
                  <a:pt x="3171646" y="2499618"/>
                </a:lnTo>
                <a:lnTo>
                  <a:pt x="0" y="2499618"/>
                </a:lnTo>
                <a:lnTo>
                  <a:pt x="0" y="63193"/>
                </a:lnTo>
                <a:arcTo wR="63192" hR="63193" stAng="10800000" swAng="5400000"/>
                <a:close/>
              </a:path>
            </a:pathLst>
          </a:custGeom>
          <a:solidFill>
            <a:srgbClr val="740B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529564" y="1803102"/>
            <a:ext cx="2359264" cy="405110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  <a:ea typeface="Dela Gothic One" pitchFamily="34" charset="-122"/>
                <a:cs typeface="Dela Gothic One" pitchFamily="34" charset="-120"/>
              </a:rPr>
              <a:t>Without Enable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477691" y="2235398"/>
            <a:ext cx="2914442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FFE5E5"/>
                </a:solidFill>
                <a:latin typeface="Arial Rounded MT Bold" panose="020F0704030504030204" pitchFamily="34" charset="0"/>
                <a:ea typeface="DM Sans" pitchFamily="34" charset="-122"/>
                <a:cs typeface="DM Sans" pitchFamily="34" charset="-120"/>
              </a:rPr>
              <a:t>A standard decoder is </a:t>
            </a:r>
            <a:r>
              <a:rPr lang="en-US" sz="1600" b="1" dirty="0">
                <a:solidFill>
                  <a:srgbClr val="FFE5E5"/>
                </a:solidFill>
                <a:latin typeface="Arial Rounded MT Bold" panose="020F0704030504030204" pitchFamily="34" charset="0"/>
                <a:ea typeface="DM Sans Bold" pitchFamily="34" charset="-122"/>
                <a:cs typeface="DM Sans Bold" pitchFamily="34" charset="-120"/>
              </a:rPr>
              <a:t>always active</a:t>
            </a:r>
            <a:r>
              <a:rPr lang="en-US" sz="1600" b="1" dirty="0">
                <a:solidFill>
                  <a:srgbClr val="FFE5E5"/>
                </a:solidFill>
                <a:latin typeface="Arial Rounded MT Bold" panose="020F0704030504030204" pitchFamily="34" charset="0"/>
                <a:ea typeface="DM Sans" pitchFamily="34" charset="-122"/>
                <a:cs typeface="DM Sans" pitchFamily="34" charset="-120"/>
              </a:rPr>
              <a:t> — it continuously decodes inputs regardless of system state, which can be inefficient and cause bus conflicts.</a:t>
            </a:r>
            <a:endParaRPr lang="en-US" sz="1600" b="1" dirty="0">
              <a:latin typeface="Arial Rounded MT Bold" panose="020F070403050403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520736" y="1622623"/>
            <a:ext cx="3171646" cy="2499618"/>
          </a:xfrm>
          <a:custGeom>
            <a:avLst/>
            <a:gdLst/>
            <a:ahLst/>
            <a:cxnLst/>
            <a:rect l="l" t="t" r="r" b="b"/>
            <a:pathLst>
              <a:path w="3171646" h="2499618">
                <a:moveTo>
                  <a:pt x="0" y="0"/>
                </a:moveTo>
                <a:lnTo>
                  <a:pt x="3108455" y="0"/>
                </a:lnTo>
                <a:arcTo wR="63192" hR="63193" stAng="16200000" swAng="5400000"/>
                <a:lnTo>
                  <a:pt x="3171646" y="2499618"/>
                </a:lnTo>
                <a:lnTo>
                  <a:pt x="0" y="2499618"/>
                </a:lnTo>
                <a:lnTo>
                  <a:pt x="0" y="0"/>
                </a:lnTo>
                <a:close/>
              </a:path>
            </a:pathLst>
          </a:custGeom>
          <a:solidFill>
            <a:srgbClr val="740B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3520736" y="1622623"/>
            <a:ext cx="25399" cy="2499618"/>
          </a:xfrm>
          <a:prstGeom prst="roundRect">
            <a:avLst>
              <a:gd name="adj" fmla="val 50001"/>
            </a:avLst>
          </a:prstGeom>
          <a:solidFill>
            <a:srgbClr val="8D2424"/>
          </a:solidFill>
          <a:ln/>
        </p:spPr>
      </p:sp>
      <p:sp>
        <p:nvSpPr>
          <p:cNvPr id="10" name="Text 7"/>
          <p:cNvSpPr/>
          <p:nvPr/>
        </p:nvSpPr>
        <p:spPr>
          <a:xfrm>
            <a:off x="3701210" y="1803102"/>
            <a:ext cx="2810698" cy="405110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  <a:ea typeface="Dela Gothic One" pitchFamily="34" charset="-122"/>
                <a:cs typeface="Dela Gothic One" pitchFamily="34" charset="-120"/>
              </a:rPr>
              <a:t>With Enable (E)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713909" y="2235398"/>
            <a:ext cx="2810698" cy="1444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FFE5E5"/>
                </a:solidFill>
                <a:latin typeface="Arial Rounded MT Bold" panose="020F0704030504030204" pitchFamily="34" charset="0"/>
                <a:ea typeface="DM Sans" pitchFamily="34" charset="-122"/>
                <a:cs typeface="DM Sans" pitchFamily="34" charset="-120"/>
              </a:rPr>
              <a:t>Adding an </a:t>
            </a:r>
            <a:r>
              <a:rPr lang="en-US" sz="1600" b="1" dirty="0">
                <a:solidFill>
                  <a:srgbClr val="FFFF00"/>
                </a:solidFill>
                <a:latin typeface="Arial Rounded MT Bold" panose="020F0704030504030204" pitchFamily="34" charset="0"/>
                <a:ea typeface="DM Sans Bold" pitchFamily="34" charset="-122"/>
                <a:cs typeface="DM Sans Bold" pitchFamily="34" charset="-120"/>
              </a:rPr>
              <a:t>Enable pin</a:t>
            </a:r>
            <a:r>
              <a:rPr lang="en-US" sz="1600" b="1" dirty="0">
                <a:solidFill>
                  <a:srgbClr val="FFFF00"/>
                </a:solidFill>
                <a:latin typeface="Arial Rounded MT Bold" panose="020F0704030504030204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600" b="1" dirty="0">
                <a:solidFill>
                  <a:srgbClr val="FFE5E5"/>
                </a:solidFill>
                <a:latin typeface="Arial Rounded MT Bold" panose="020F0704030504030204" pitchFamily="34" charset="0"/>
                <a:ea typeface="DM Sans" pitchFamily="34" charset="-122"/>
                <a:cs typeface="DM Sans" pitchFamily="34" charset="-120"/>
              </a:rPr>
              <a:t>allows the circuit to be toggled. When </a:t>
            </a:r>
            <a:r>
              <a:rPr lang="en-US" sz="1600" b="1" dirty="0">
                <a:solidFill>
                  <a:srgbClr val="FFE5E5"/>
                </a:solidFill>
                <a:latin typeface="Arial Rounded MT Bold" panose="020F0704030504030204" pitchFamily="34" charset="0"/>
                <a:ea typeface="DM Sans Bold" pitchFamily="34" charset="-122"/>
                <a:cs typeface="DM Sans Bold" pitchFamily="34" charset="-120"/>
              </a:rPr>
              <a:t>E = 0</a:t>
            </a:r>
            <a:r>
              <a:rPr lang="en-US" sz="1600" b="1" dirty="0">
                <a:solidFill>
                  <a:srgbClr val="FFE5E5"/>
                </a:solidFill>
                <a:latin typeface="Arial Rounded MT Bold" panose="020F0704030504030204" pitchFamily="34" charset="0"/>
                <a:ea typeface="DM Sans" pitchFamily="34" charset="-122"/>
                <a:cs typeface="DM Sans" pitchFamily="34" charset="-120"/>
              </a:rPr>
              <a:t>, all outputs are forced inactive. When </a:t>
            </a:r>
            <a:r>
              <a:rPr lang="en-US" sz="1600" b="1" dirty="0">
                <a:solidFill>
                  <a:srgbClr val="FFE5E5"/>
                </a:solidFill>
                <a:latin typeface="Arial Rounded MT Bold" panose="020F0704030504030204" pitchFamily="34" charset="0"/>
                <a:ea typeface="DM Sans Bold" pitchFamily="34" charset="-122"/>
                <a:cs typeface="DM Sans Bold" pitchFamily="34" charset="-120"/>
              </a:rPr>
              <a:t>E = 1</a:t>
            </a:r>
            <a:r>
              <a:rPr lang="en-US" sz="1600" b="1" dirty="0">
                <a:solidFill>
                  <a:srgbClr val="FFE5E5"/>
                </a:solidFill>
                <a:latin typeface="Arial Rounded MT Bold" panose="020F0704030504030204" pitchFamily="34" charset="0"/>
                <a:ea typeface="DM Sans" pitchFamily="34" charset="-122"/>
                <a:cs typeface="DM Sans" pitchFamily="34" charset="-120"/>
              </a:rPr>
              <a:t>, normal decoding resumes.</a:t>
            </a:r>
            <a:endParaRPr lang="en-US" sz="1600" b="1" dirty="0">
              <a:latin typeface="Arial Rounded MT Bold" panose="020F0704030504030204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49089" y="4122241"/>
            <a:ext cx="6343293" cy="1632843"/>
          </a:xfrm>
          <a:custGeom>
            <a:avLst/>
            <a:gdLst/>
            <a:ahLst/>
            <a:cxnLst/>
            <a:rect l="l" t="t" r="r" b="b"/>
            <a:pathLst>
              <a:path w="6343293" h="1632843">
                <a:moveTo>
                  <a:pt x="0" y="0"/>
                </a:moveTo>
                <a:lnTo>
                  <a:pt x="6343293" y="0"/>
                </a:lnTo>
                <a:lnTo>
                  <a:pt x="6343293" y="1569650"/>
                </a:lnTo>
                <a:arcTo wR="63192" hR="63193" stAng="0" swAng="5400000"/>
                <a:lnTo>
                  <a:pt x="63192" y="1632843"/>
                </a:lnTo>
                <a:arcTo wR="63192" hR="63193" stAng="5400000" swAng="5400000"/>
                <a:lnTo>
                  <a:pt x="0" y="0"/>
                </a:lnTo>
                <a:close/>
              </a:path>
            </a:pathLst>
          </a:custGeom>
          <a:solidFill>
            <a:srgbClr val="740B0B"/>
          </a:solidFill>
          <a:ln/>
        </p:spPr>
      </p:sp>
      <p:sp>
        <p:nvSpPr>
          <p:cNvPr id="13" name="Shape 10"/>
          <p:cNvSpPr/>
          <p:nvPr/>
        </p:nvSpPr>
        <p:spPr>
          <a:xfrm>
            <a:off x="349089" y="4122241"/>
            <a:ext cx="6343293" cy="25400"/>
          </a:xfrm>
          <a:prstGeom prst="roundRect">
            <a:avLst>
              <a:gd name="adj" fmla="val 49999"/>
            </a:avLst>
          </a:prstGeom>
          <a:solidFill>
            <a:srgbClr val="8D2424"/>
          </a:solidFill>
          <a:ln/>
        </p:spPr>
      </p:sp>
      <p:sp>
        <p:nvSpPr>
          <p:cNvPr id="14" name="Text 11"/>
          <p:cNvSpPr/>
          <p:nvPr/>
        </p:nvSpPr>
        <p:spPr>
          <a:xfrm>
            <a:off x="529564" y="4302720"/>
            <a:ext cx="2359264" cy="405110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  <a:ea typeface="Dela Gothic One" pitchFamily="34" charset="-122"/>
                <a:cs typeface="Dela Gothic One" pitchFamily="34" charset="-120"/>
              </a:rPr>
              <a:t>Why It Matters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29564" y="4707830"/>
            <a:ext cx="5982344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FFE5E5"/>
                </a:solidFill>
                <a:latin typeface="Arial Rounded MT Bold" panose="020F0704030504030204" pitchFamily="34" charset="0"/>
                <a:ea typeface="DM Sans" pitchFamily="34" charset="-122"/>
                <a:cs typeface="DM Sans" pitchFamily="34" charset="-120"/>
              </a:rPr>
              <a:t>Enable signals provide </a:t>
            </a:r>
            <a:r>
              <a:rPr lang="en-US" sz="1600" b="1" dirty="0">
                <a:solidFill>
                  <a:srgbClr val="FFE5E5"/>
                </a:solidFill>
                <a:latin typeface="Arial Rounded MT Bold" panose="020F0704030504030204" pitchFamily="34" charset="0"/>
                <a:ea typeface="DM Sans Bold" pitchFamily="34" charset="-122"/>
                <a:cs typeface="DM Sans Bold" pitchFamily="34" charset="-120"/>
              </a:rPr>
              <a:t>essential control</a:t>
            </a:r>
            <a:r>
              <a:rPr lang="en-US" sz="1600" b="1" dirty="0">
                <a:solidFill>
                  <a:srgbClr val="FFE5E5"/>
                </a:solidFill>
                <a:latin typeface="Arial Rounded MT Bold" panose="020F0704030504030204" pitchFamily="34" charset="0"/>
                <a:ea typeface="DM Sans" pitchFamily="34" charset="-122"/>
                <a:cs typeface="DM Sans" pitchFamily="34" charset="-120"/>
              </a:rPr>
              <a:t> in complex systems, allowing decoders to be chained, disabled during idle cycles, or used in hierarchical designs.</a:t>
            </a:r>
            <a:endParaRPr lang="en-US" sz="1600" b="1" dirty="0">
              <a:latin typeface="Arial Rounded MT Bold" panose="020F070403050403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1045675" y="6556248"/>
            <a:ext cx="1146019" cy="301752"/>
          </a:xfrm>
          <a:prstGeom prst="rect">
            <a:avLst/>
          </a:prstGeom>
          <a:solidFill>
            <a:srgbClr val="0A09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631908" y="534490"/>
            <a:ext cx="10927878" cy="315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FFFF00"/>
                </a:solidFill>
                <a:latin typeface="Arial Rounded MT Bold" panose="020F0704030504030204" pitchFamily="34" charset="0"/>
                <a:ea typeface="Dela Gothic One" pitchFamily="34" charset="-122"/>
                <a:cs typeface="Dela Gothic One" pitchFamily="34" charset="-120"/>
              </a:rPr>
              <a:t>Hierarchical Design: Building Larger Decoders</a:t>
            </a:r>
            <a:endParaRPr lang="en-US" sz="2800" dirty="0">
              <a:solidFill>
                <a:srgbClr val="FFFF00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864" y="1170347"/>
            <a:ext cx="5128030" cy="51281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154594" y="1964824"/>
            <a:ext cx="3684978" cy="520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02060"/>
                </a:solidFill>
                <a:latin typeface="Arial Rounded MT Bold" panose="020F0704030504030204" pitchFamily="34" charset="0"/>
                <a:ea typeface="Dela Gothic One" pitchFamily="34" charset="-122"/>
                <a:cs typeface="Dela Gothic One" pitchFamily="34" charset="-120"/>
              </a:rPr>
              <a:t>Tree-Based Construction</a:t>
            </a:r>
            <a:endParaRPr lang="en-US" sz="2000" b="1" dirty="0">
              <a:solidFill>
                <a:srgbClr val="00206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131974" y="2504205"/>
            <a:ext cx="5346963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lnSpc>
                <a:spcPct val="102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Arial Rounded MT Bold" panose="020F0704030504030204" pitchFamily="34" charset="0"/>
                <a:ea typeface="DM Sans" pitchFamily="34" charset="-122"/>
                <a:cs typeface="DM Sans" pitchFamily="34" charset="-120"/>
              </a:rPr>
              <a:t>Complex systems use a </a:t>
            </a:r>
            <a:r>
              <a:rPr lang="en-US" sz="1600" b="1" dirty="0">
                <a:solidFill>
                  <a:srgbClr val="FFE5E5"/>
                </a:solidFill>
                <a:latin typeface="Arial Rounded MT Bold" panose="020F0704030504030204" pitchFamily="34" charset="0"/>
                <a:ea typeface="DM Sans Bold" pitchFamily="34" charset="-122"/>
                <a:cs typeface="DM Sans Bold" pitchFamily="34" charset="-120"/>
              </a:rPr>
              <a:t>modular, tree-based approach</a:t>
            </a:r>
            <a:r>
              <a:rPr lang="en-US" sz="1600" dirty="0">
                <a:solidFill>
                  <a:srgbClr val="FFE5E5"/>
                </a:solidFill>
                <a:latin typeface="Arial Rounded MT Bold" panose="020F0704030504030204" pitchFamily="34" charset="0"/>
                <a:ea typeface="DM Sans" pitchFamily="34" charset="-122"/>
                <a:cs typeface="DM Sans" pitchFamily="34" charset="-120"/>
              </a:rPr>
              <a:t> to build large decoders from smaller, reusable blocks — reducing design complexity and improving scalability.</a:t>
            </a:r>
            <a:endParaRPr lang="en-US" sz="1600" dirty="0">
              <a:latin typeface="Arial Rounded MT Bold" panose="020F0704030504030204" pitchFamily="3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015973" y="3684983"/>
            <a:ext cx="5346963" cy="1364495"/>
          </a:xfrm>
          <a:prstGeom prst="roundRect">
            <a:avLst>
              <a:gd name="adj" fmla="val 10758"/>
            </a:avLst>
          </a:prstGeom>
          <a:solidFill>
            <a:srgbClr val="740B0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1816" y="3764756"/>
            <a:ext cx="119853" cy="9584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27512" y="3757110"/>
            <a:ext cx="4939581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 Rounded MT Bold" panose="020F0704030504030204" pitchFamily="34" charset="0"/>
                <a:ea typeface="DM Sans Bold" pitchFamily="34" charset="-122"/>
                <a:cs typeface="DM Sans Bold" pitchFamily="34" charset="-120"/>
              </a:rPr>
              <a:t>Key Example:</a:t>
            </a:r>
            <a:r>
              <a:rPr lang="en-US" sz="1600" dirty="0">
                <a:solidFill>
                  <a:srgbClr val="FFFFFF"/>
                </a:solidFill>
                <a:latin typeface="Arial Rounded MT Bold" panose="020F0704030504030204" pitchFamily="34" charset="0"/>
                <a:ea typeface="DM Sans" pitchFamily="34" charset="-122"/>
                <a:cs typeface="DM Sans" pitchFamily="34" charset="-120"/>
              </a:rPr>
              <a:t> </a:t>
            </a:r>
          </a:p>
          <a:p>
            <a:pPr marL="0" indent="0" algn="l">
              <a:lnSpc>
                <a:spcPct val="10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 Rounded MT Bold" panose="020F0704030504030204" pitchFamily="34" charset="0"/>
                <a:ea typeface="DM Sans" pitchFamily="34" charset="-122"/>
                <a:cs typeface="DM Sans" pitchFamily="34" charset="-120"/>
              </a:rPr>
              <a:t>Two 2-to-4 decoders combine to form a 3-to-8 decoder. The </a:t>
            </a:r>
            <a:r>
              <a:rPr lang="en-US" sz="1600" dirty="0">
                <a:solidFill>
                  <a:srgbClr val="FFFF00"/>
                </a:solidFill>
                <a:latin typeface="Arial Rounded MT Bold" panose="020F0704030504030204" pitchFamily="34" charset="0"/>
                <a:ea typeface="DM Sans" pitchFamily="34" charset="-122"/>
                <a:cs typeface="DM Sans" pitchFamily="34" charset="-120"/>
              </a:rPr>
              <a:t>MSB</a:t>
            </a:r>
            <a:r>
              <a:rPr lang="en-US" sz="1600" dirty="0">
                <a:solidFill>
                  <a:srgbClr val="FFFFFF"/>
                </a:solidFill>
                <a:latin typeface="Arial Rounded MT Bold" panose="020F0704030504030204" pitchFamily="34" charset="0"/>
                <a:ea typeface="DM Sans" pitchFamily="34" charset="-122"/>
                <a:cs typeface="DM Sans" pitchFamily="34" charset="-120"/>
              </a:rPr>
              <a:t> toggles the Enable pins of each sub-unit, selecting which half of the outputs is active.</a:t>
            </a:r>
            <a:endParaRPr lang="en-US" sz="1600" dirty="0">
              <a:latin typeface="Arial Rounded MT Bold" panose="020F070403050403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1045675" y="6556248"/>
            <a:ext cx="1146019" cy="301752"/>
          </a:xfrm>
          <a:prstGeom prst="rect">
            <a:avLst/>
          </a:prstGeom>
          <a:solidFill>
            <a:srgbClr val="0A09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407318" y="373884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FFFF00"/>
                </a:solidFill>
                <a:latin typeface="Arial Rounded MT Bold" panose="020F0704030504030204" pitchFamily="34" charset="0"/>
                <a:ea typeface="Dela Gothic One" pitchFamily="34" charset="-122"/>
                <a:cs typeface="Dela Gothic One" pitchFamily="34" charset="-120"/>
              </a:rPr>
              <a:t>Real-World Applications</a:t>
            </a:r>
            <a:endParaRPr lang="en-US" sz="2800" dirty="0">
              <a:solidFill>
                <a:srgbClr val="FFFF00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423" y="1718184"/>
            <a:ext cx="2518409" cy="15564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5423" y="3597963"/>
            <a:ext cx="3492214" cy="427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  <a:ea typeface="Dela Gothic One" pitchFamily="34" charset="-122"/>
                <a:cs typeface="Dela Gothic One" pitchFamily="34" charset="-120"/>
              </a:rPr>
              <a:t>Memory Addressing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27635" y="4024996"/>
            <a:ext cx="3290386" cy="17260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lnSpc>
                <a:spcPct val="133000"/>
              </a:lnSpc>
              <a:buNone/>
            </a:pPr>
            <a:r>
              <a:rPr lang="en-US" dirty="0">
                <a:solidFill>
                  <a:srgbClr val="FFE5E5"/>
                </a:solidFill>
                <a:latin typeface="Arial Rounded MT Bold" panose="020F0704030504030204" pitchFamily="34" charset="0"/>
                <a:ea typeface="DM Sans" pitchFamily="34" charset="-122"/>
                <a:cs typeface="DM Sans" pitchFamily="34" charset="-120"/>
              </a:rPr>
              <a:t>RAM and ROM use decoders to </a:t>
            </a:r>
            <a:r>
              <a:rPr lang="en-US" b="1" dirty="0">
                <a:solidFill>
                  <a:srgbClr val="FFE5E5"/>
                </a:solidFill>
                <a:latin typeface="Arial Rounded MT Bold" panose="020F0704030504030204" pitchFamily="34" charset="0"/>
                <a:ea typeface="DM Sans Bold" pitchFamily="34" charset="-122"/>
                <a:cs typeface="DM Sans Bold" pitchFamily="34" charset="-120"/>
              </a:rPr>
              <a:t>select specific memory locations</a:t>
            </a:r>
            <a:r>
              <a:rPr lang="en-US" dirty="0">
                <a:solidFill>
                  <a:srgbClr val="FFE5E5"/>
                </a:solidFill>
                <a:latin typeface="Arial Rounded MT Bold" panose="020F0704030504030204" pitchFamily="34" charset="0"/>
                <a:ea typeface="DM Sans" pitchFamily="34" charset="-122"/>
                <a:cs typeface="DM Sans" pitchFamily="34" charset="-120"/>
              </a:rPr>
              <a:t> based on a binary address, enabling precise read / write operations across millions of cells.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40" y="1760143"/>
            <a:ext cx="2404525" cy="148605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49740" y="3611807"/>
            <a:ext cx="349221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  <a:ea typeface="Dela Gothic One" pitchFamily="34" charset="-122"/>
                <a:cs typeface="Dela Gothic One" pitchFamily="34" charset="-120"/>
              </a:rPr>
              <a:t>Data Routing &amp; Displays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4349740" y="4073209"/>
            <a:ext cx="3492214" cy="1155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lnSpc>
                <a:spcPct val="133000"/>
              </a:lnSpc>
              <a:buNone/>
            </a:pPr>
            <a:r>
              <a:rPr lang="en-US" dirty="0">
                <a:solidFill>
                  <a:srgbClr val="FFE5E5"/>
                </a:solidFill>
                <a:latin typeface="Arial Rounded MT Bold" panose="020F0704030504030204" pitchFamily="34" charset="0"/>
                <a:ea typeface="DM Sans" pitchFamily="34" charset="-122"/>
                <a:cs typeface="DM Sans" pitchFamily="34" charset="-120"/>
              </a:rPr>
              <a:t>Decoders drive </a:t>
            </a:r>
            <a:r>
              <a:rPr lang="en-US" b="1" dirty="0">
                <a:solidFill>
                  <a:srgbClr val="FFE5E5"/>
                </a:solidFill>
                <a:latin typeface="Arial Rounded MT Bold" panose="020F0704030504030204" pitchFamily="34" charset="0"/>
                <a:ea typeface="DM Sans Bold" pitchFamily="34" charset="-122"/>
                <a:cs typeface="DM Sans Bold" pitchFamily="34" charset="-120"/>
              </a:rPr>
              <a:t>multiplexers</a:t>
            </a:r>
            <a:r>
              <a:rPr lang="en-US" dirty="0">
                <a:solidFill>
                  <a:srgbClr val="FFE5E5"/>
                </a:solidFill>
                <a:latin typeface="Arial Rounded MT Bold" panose="020F0704030504030204" pitchFamily="34" charset="0"/>
                <a:ea typeface="DM Sans" pitchFamily="34" charset="-122"/>
                <a:cs typeface="DM Sans" pitchFamily="34" charset="-120"/>
              </a:rPr>
              <a:t> to select data paths and convert </a:t>
            </a:r>
            <a:r>
              <a:rPr lang="en-US" b="1" dirty="0">
                <a:solidFill>
                  <a:srgbClr val="FFE5E5"/>
                </a:solidFill>
                <a:latin typeface="Arial Rounded MT Bold" panose="020F0704030504030204" pitchFamily="34" charset="0"/>
                <a:ea typeface="DM Sans Bold" pitchFamily="34" charset="-122"/>
                <a:cs typeface="DM Sans Bold" pitchFamily="34" charset="-120"/>
              </a:rPr>
              <a:t>BCD codes</a:t>
            </a:r>
            <a:r>
              <a:rPr lang="en-US" dirty="0">
                <a:solidFill>
                  <a:srgbClr val="FFE5E5"/>
                </a:solidFill>
                <a:latin typeface="Arial Rounded MT Bold" panose="020F0704030504030204" pitchFamily="34" charset="0"/>
                <a:ea typeface="DM Sans" pitchFamily="34" charset="-122"/>
                <a:cs typeface="DM Sans" pitchFamily="34" charset="-120"/>
              </a:rPr>
              <a:t> into readable digits on 7-segment displays used in calculators and clocks.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7572" y="1803933"/>
            <a:ext cx="2354792" cy="145531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172151" y="3614921"/>
            <a:ext cx="349221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  <a:ea typeface="Dela Gothic One" pitchFamily="34" charset="-122"/>
                <a:cs typeface="Dela Gothic One" pitchFamily="34" charset="-120"/>
              </a:rPr>
              <a:t>Processor Control Units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8172151" y="4125416"/>
            <a:ext cx="3290386" cy="1155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lnSpc>
                <a:spcPct val="133000"/>
              </a:lnSpc>
              <a:buNone/>
            </a:pPr>
            <a:r>
              <a:rPr lang="en-US" dirty="0">
                <a:solidFill>
                  <a:srgbClr val="FFE5E5"/>
                </a:solidFill>
                <a:latin typeface="Arial Rounded MT Bold" panose="020F0704030504030204" pitchFamily="34" charset="0"/>
                <a:ea typeface="DM Sans" pitchFamily="34" charset="-122"/>
                <a:cs typeface="DM Sans" pitchFamily="34" charset="-120"/>
              </a:rPr>
              <a:t>Inside every CPU, decoders </a:t>
            </a:r>
            <a:r>
              <a:rPr lang="en-US" b="1" dirty="0">
                <a:solidFill>
                  <a:srgbClr val="FFE5E5"/>
                </a:solidFill>
                <a:latin typeface="Arial Rounded MT Bold" panose="020F0704030504030204" pitchFamily="34" charset="0"/>
                <a:ea typeface="DM Sans Bold" pitchFamily="34" charset="-122"/>
                <a:cs typeface="DM Sans Bold" pitchFamily="34" charset="-120"/>
              </a:rPr>
              <a:t>interpret instruction opcodes</a:t>
            </a:r>
            <a:r>
              <a:rPr lang="en-US" dirty="0">
                <a:solidFill>
                  <a:srgbClr val="FFE5E5"/>
                </a:solidFill>
                <a:latin typeface="Arial Rounded MT Bold" panose="020F0704030504030204" pitchFamily="34" charset="0"/>
                <a:ea typeface="DM Sans" pitchFamily="34" charset="-122"/>
                <a:cs typeface="DM Sans" pitchFamily="34" charset="-120"/>
              </a:rPr>
              <a:t> and activate the correct execution unit — a critical role in instruction decoding pipelines.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1045675" y="6556248"/>
            <a:ext cx="1146019" cy="301752"/>
          </a:xfrm>
          <a:prstGeom prst="rect">
            <a:avLst/>
          </a:prstGeom>
          <a:solidFill>
            <a:srgbClr val="0A09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265724" y="456100"/>
            <a:ext cx="10927878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FFFF00"/>
                </a:solidFill>
                <a:latin typeface="Arial Rounded MT Bold" panose="020F0704030504030204" pitchFamily="34" charset="0"/>
                <a:ea typeface="Dela Gothic One" pitchFamily="34" charset="-122"/>
                <a:cs typeface="Dela Gothic One" pitchFamily="34" charset="-120"/>
              </a:rPr>
              <a:t>Encoders: The Inverse Operation</a:t>
            </a:r>
            <a:endParaRPr lang="en-US" sz="2800" b="1" dirty="0">
              <a:solidFill>
                <a:srgbClr val="FFFF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75855" y="2060124"/>
            <a:ext cx="4525660" cy="584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u="sng" dirty="0">
                <a:solidFill>
                  <a:srgbClr val="00B0F0"/>
                </a:solidFill>
                <a:latin typeface="Arial Rounded MT Bold" panose="020F0704030504030204" pitchFamily="34" charset="0"/>
                <a:ea typeface="Dela Gothic One" pitchFamily="34" charset="-122"/>
                <a:cs typeface="Dela Gothic One" pitchFamily="34" charset="-120"/>
              </a:rPr>
              <a:t>From Outputs Back to Binary</a:t>
            </a:r>
            <a:endParaRPr lang="en-US" sz="2400" u="sng" dirty="0">
              <a:solidFill>
                <a:srgbClr val="00B0F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75855" y="2644346"/>
            <a:ext cx="5719994" cy="1264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rgbClr val="FFE5E5"/>
                </a:solidFill>
                <a:latin typeface="Arial Rounded MT Bold" panose="020F0704030504030204" pitchFamily="34" charset="0"/>
                <a:ea typeface="DM Sans" pitchFamily="34" charset="-122"/>
                <a:cs typeface="DM Sans" pitchFamily="34" charset="-120"/>
              </a:rPr>
              <a:t>Where a decoder expands </a:t>
            </a:r>
            <a:r>
              <a:rPr lang="en-US" sz="2400" b="1" dirty="0">
                <a:solidFill>
                  <a:srgbClr val="FFE5E5"/>
                </a:solidFill>
                <a:latin typeface="Arial Rounded MT Bold" panose="020F0704030504030204" pitchFamily="34" charset="0"/>
                <a:ea typeface="DM Sans Bold" pitchFamily="34" charset="-122"/>
                <a:cs typeface="DM Sans Bold" pitchFamily="34" charset="-120"/>
              </a:rPr>
              <a:t>n inputs → 2ⁿ outputs</a:t>
            </a:r>
            <a:r>
              <a:rPr lang="en-US" sz="2400" dirty="0">
                <a:solidFill>
                  <a:srgbClr val="FFE5E5"/>
                </a:solidFill>
                <a:latin typeface="Arial Rounded MT Bold" panose="020F0704030504030204" pitchFamily="34" charset="0"/>
                <a:ea typeface="DM Sans" pitchFamily="34" charset="-122"/>
                <a:cs typeface="DM Sans" pitchFamily="34" charset="-120"/>
              </a:rPr>
              <a:t>, an </a:t>
            </a:r>
            <a:r>
              <a:rPr lang="en-US" sz="2400" b="1" dirty="0">
                <a:solidFill>
                  <a:srgbClr val="FFFF00"/>
                </a:solidFill>
                <a:latin typeface="Arial Rounded MT Bold" panose="020F0704030504030204" pitchFamily="34" charset="0"/>
                <a:ea typeface="DM Sans Bold" pitchFamily="34" charset="-122"/>
                <a:cs typeface="DM Sans Bold" pitchFamily="34" charset="-120"/>
              </a:rPr>
              <a:t>encoder</a:t>
            </a:r>
            <a:r>
              <a:rPr lang="en-US" sz="2400" dirty="0">
                <a:solidFill>
                  <a:srgbClr val="FFE5E5"/>
                </a:solidFill>
                <a:latin typeface="Arial Rounded MT Bold" panose="020F0704030504030204" pitchFamily="34" charset="0"/>
                <a:ea typeface="DM Sans" pitchFamily="34" charset="-122"/>
                <a:cs typeface="DM Sans" pitchFamily="34" charset="-120"/>
              </a:rPr>
              <a:t> performs the reverse: it compresses multiple active input lines into a smaller binary code.</a:t>
            </a:r>
            <a:endParaRPr lang="en-US" sz="2400" dirty="0">
              <a:latin typeface="Arial Rounded MT Bold" panose="020F0704030504030204" pitchFamily="34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8425" y="295877"/>
            <a:ext cx="5353809" cy="5353943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210B3D55-C0B0-FB8C-AC5D-1EFC52FD9E58}"/>
              </a:ext>
            </a:extLst>
          </p:cNvPr>
          <p:cNvGrpSpPr/>
          <p:nvPr/>
        </p:nvGrpSpPr>
        <p:grpSpPr>
          <a:xfrm>
            <a:off x="133919" y="5835832"/>
            <a:ext cx="5441417" cy="910114"/>
            <a:chOff x="133919" y="5522791"/>
            <a:chExt cx="5441417" cy="910114"/>
          </a:xfrm>
        </p:grpSpPr>
        <p:sp>
          <p:nvSpPr>
            <p:cNvPr id="6" name="Shape 3"/>
            <p:cNvSpPr/>
            <p:nvPr/>
          </p:nvSpPr>
          <p:spPr>
            <a:xfrm>
              <a:off x="133919" y="5522791"/>
              <a:ext cx="5441417" cy="879109"/>
            </a:xfrm>
            <a:prstGeom prst="roundRect">
              <a:avLst>
                <a:gd name="adj" fmla="val 7745"/>
              </a:avLst>
            </a:prstGeom>
            <a:solidFill>
              <a:srgbClr val="0A0A0A">
                <a:alpha val="95000"/>
              </a:srgbClr>
            </a:solidFill>
            <a:ln w="12700">
              <a:solidFill>
                <a:srgbClr val="8D2424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796AD904-92E6-6409-B738-CE9F38616130}"/>
                </a:ext>
              </a:extLst>
            </p:cNvPr>
            <p:cNvGrpSpPr/>
            <p:nvPr/>
          </p:nvGrpSpPr>
          <p:grpSpPr>
            <a:xfrm>
              <a:off x="205776" y="5649820"/>
              <a:ext cx="4539219" cy="783085"/>
              <a:chOff x="205776" y="5649820"/>
              <a:chExt cx="4539219" cy="783085"/>
            </a:xfrm>
          </p:grpSpPr>
          <p:sp>
            <p:nvSpPr>
              <p:cNvPr id="7" name="Text 4"/>
              <p:cNvSpPr/>
              <p:nvPr/>
            </p:nvSpPr>
            <p:spPr>
              <a:xfrm>
                <a:off x="205776" y="5649820"/>
                <a:ext cx="2131487" cy="289661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ct val="104000"/>
                  </a:lnSpc>
                  <a:buNone/>
                </a:pPr>
                <a:r>
                  <a:rPr lang="en-US" sz="1200" dirty="0">
                    <a:solidFill>
                      <a:srgbClr val="FFFF00"/>
                    </a:solidFill>
                    <a:latin typeface="Arial Rounded MT Bold" panose="020F0704030504030204" pitchFamily="34" charset="0"/>
                    <a:ea typeface="Dela Gothic One" pitchFamily="34" charset="-122"/>
                    <a:cs typeface="Dela Gothic One" pitchFamily="34" charset="-120"/>
                  </a:rPr>
                  <a:t>Standard Encoder</a:t>
                </a:r>
                <a:endParaRPr lang="en-US" sz="1200" dirty="0">
                  <a:solidFill>
                    <a:srgbClr val="FFFF00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8" name="Text 5"/>
              <p:cNvSpPr/>
              <p:nvPr/>
            </p:nvSpPr>
            <p:spPr>
              <a:xfrm>
                <a:off x="205776" y="5885307"/>
                <a:ext cx="4539219" cy="54759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ct val="100000"/>
                  </a:lnSpc>
                  <a:buNone/>
                </a:pPr>
                <a:r>
                  <a:rPr lang="en-US" sz="1200" dirty="0">
                    <a:solidFill>
                      <a:srgbClr val="FFE5E5"/>
                    </a:solidFill>
                    <a:latin typeface="Arial Rounded MT Bold" panose="020F0704030504030204" pitchFamily="34" charset="0"/>
                    <a:ea typeface="DM Sans" pitchFamily="34" charset="-122"/>
                    <a:cs typeface="DM Sans" pitchFamily="34" charset="-120"/>
                  </a:rPr>
                  <a:t>Assumes only one input is active at a time; outputs the binary </a:t>
                </a:r>
              </a:p>
              <a:p>
                <a:pPr marL="0" indent="0" algn="l">
                  <a:lnSpc>
                    <a:spcPct val="100000"/>
                  </a:lnSpc>
                  <a:buNone/>
                </a:pPr>
                <a:r>
                  <a:rPr lang="en-US" sz="1200" dirty="0">
                    <a:solidFill>
                      <a:srgbClr val="FFE5E5"/>
                    </a:solidFill>
                    <a:latin typeface="Arial Rounded MT Bold" panose="020F0704030504030204" pitchFamily="34" charset="0"/>
                    <a:ea typeface="DM Sans" pitchFamily="34" charset="-122"/>
                    <a:cs typeface="DM Sans" pitchFamily="34" charset="-120"/>
                  </a:rPr>
                  <a:t>position of that input.</a:t>
                </a:r>
                <a:endParaRPr lang="en-US" sz="1200" dirty="0">
                  <a:latin typeface="Arial Rounded MT Bold" panose="020F0704030504030204" pitchFamily="34" charset="0"/>
                </a:endParaRPr>
              </a:p>
            </p:txBody>
          </p: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7F9E438-A2D8-2B1F-5130-F631A66649EF}"/>
              </a:ext>
            </a:extLst>
          </p:cNvPr>
          <p:cNvGrpSpPr/>
          <p:nvPr/>
        </p:nvGrpSpPr>
        <p:grpSpPr>
          <a:xfrm>
            <a:off x="5752185" y="5861194"/>
            <a:ext cx="5579306" cy="853747"/>
            <a:chOff x="5752185" y="5861194"/>
            <a:chExt cx="5579306" cy="853747"/>
          </a:xfrm>
        </p:grpSpPr>
        <p:sp>
          <p:nvSpPr>
            <p:cNvPr id="9" name="Shape 6"/>
            <p:cNvSpPr/>
            <p:nvPr/>
          </p:nvSpPr>
          <p:spPr>
            <a:xfrm>
              <a:off x="5752185" y="5861194"/>
              <a:ext cx="5441417" cy="853747"/>
            </a:xfrm>
            <a:prstGeom prst="roundRect">
              <a:avLst>
                <a:gd name="adj" fmla="val 7745"/>
              </a:avLst>
            </a:prstGeom>
            <a:solidFill>
              <a:srgbClr val="0A0A0A">
                <a:alpha val="95000"/>
              </a:srgbClr>
            </a:solidFill>
            <a:ln w="12700">
              <a:solidFill>
                <a:srgbClr val="8D2424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 7"/>
            <p:cNvSpPr/>
            <p:nvPr/>
          </p:nvSpPr>
          <p:spPr>
            <a:xfrm>
              <a:off x="6095849" y="5954602"/>
              <a:ext cx="5235642" cy="14843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200" b="1" dirty="0">
                  <a:solidFill>
                    <a:srgbClr val="FFFF00"/>
                  </a:solidFill>
                  <a:latin typeface="Arial Rounded MT Bold" panose="020F0704030504030204" pitchFamily="34" charset="0"/>
                  <a:ea typeface="Dela Gothic One" pitchFamily="34" charset="-122"/>
                  <a:cs typeface="Dela Gothic One" pitchFamily="34" charset="-120"/>
                </a:rPr>
                <a:t>Priority Encoder</a:t>
              </a:r>
              <a:endParaRPr lang="en-US" sz="1200" b="1" dirty="0">
                <a:solidFill>
                  <a:srgbClr val="FFFF00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1" name="Text 8"/>
            <p:cNvSpPr/>
            <p:nvPr/>
          </p:nvSpPr>
          <p:spPr>
            <a:xfrm>
              <a:off x="6095849" y="6211719"/>
              <a:ext cx="2931636" cy="40156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200" dirty="0">
                  <a:solidFill>
                    <a:srgbClr val="FFE5E5"/>
                  </a:solidFill>
                  <a:latin typeface="Arial Rounded MT Bold" panose="020F0704030504030204" pitchFamily="34" charset="0"/>
                  <a:ea typeface="DM Sans" pitchFamily="34" charset="-122"/>
                  <a:cs typeface="DM Sans" pitchFamily="34" charset="-120"/>
                </a:rPr>
                <a:t>Handles </a:t>
              </a:r>
              <a:r>
                <a:rPr lang="en-US" sz="1200" b="1" dirty="0">
                  <a:solidFill>
                    <a:srgbClr val="FFE5E5"/>
                  </a:solidFill>
                  <a:latin typeface="Arial Rounded MT Bold" panose="020F0704030504030204" pitchFamily="34" charset="0"/>
                  <a:ea typeface="DM Sans Bold" pitchFamily="34" charset="-122"/>
                  <a:cs typeface="DM Sans Bold" pitchFamily="34" charset="-120"/>
                </a:rPr>
                <a:t>multiple simultaneous inputs</a:t>
              </a:r>
              <a:r>
                <a:rPr lang="en-US" sz="1200" dirty="0">
                  <a:solidFill>
                    <a:srgbClr val="FFE5E5"/>
                  </a:solidFill>
                  <a:latin typeface="Arial Rounded MT Bold" panose="020F0704030504030204" pitchFamily="34" charset="0"/>
                  <a:ea typeface="DM Sans" pitchFamily="34" charset="-122"/>
                  <a:cs typeface="DM Sans" pitchFamily="34" charset="-120"/>
                </a:rPr>
                <a:t> by assigning priority to the </a:t>
              </a:r>
            </a:p>
            <a:p>
              <a:pPr marL="0" indent="0" algn="l">
                <a:lnSpc>
                  <a:spcPct val="100000"/>
                </a:lnSpc>
                <a:buNone/>
              </a:pPr>
              <a:r>
                <a:rPr lang="en-US" sz="1200" dirty="0">
                  <a:solidFill>
                    <a:srgbClr val="FFE5E5"/>
                  </a:solidFill>
                  <a:latin typeface="Arial Rounded MT Bold" panose="020F0704030504030204" pitchFamily="34" charset="0"/>
                  <a:ea typeface="DM Sans" pitchFamily="34" charset="-122"/>
                  <a:cs typeface="DM Sans" pitchFamily="34" charset="-120"/>
                </a:rPr>
                <a:t>highest-value active signal, resolving ambiguity.</a:t>
              </a:r>
              <a:endParaRPr lang="en-US" sz="1200" dirty="0">
                <a:latin typeface="Arial Rounded MT Bold" panose="020F0704030504030204" pitchFamily="34" charset="0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08358" y="580381"/>
            <a:ext cx="5502442" cy="959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FFFF00"/>
                </a:solidFill>
                <a:latin typeface="Arial Rounded MT Bold" panose="020F0704030504030204" pitchFamily="34" charset="0"/>
                <a:ea typeface="Dela Gothic One" pitchFamily="34" charset="-122"/>
                <a:cs typeface="Dela Gothic One" pitchFamily="34" charset="-120"/>
              </a:rPr>
              <a:t>Conclusion: </a:t>
            </a:r>
          </a:p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FFFF00"/>
                </a:solidFill>
                <a:latin typeface="Arial Rounded MT Bold" panose="020F0704030504030204" pitchFamily="34" charset="0"/>
                <a:ea typeface="Dela Gothic One" pitchFamily="34" charset="-122"/>
                <a:cs typeface="Dela Gothic One" pitchFamily="34" charset="-120"/>
              </a:rPr>
              <a:t>The Foundation of Digital Logic</a:t>
            </a:r>
            <a:endParaRPr lang="en-US" sz="2800" dirty="0">
              <a:solidFill>
                <a:srgbClr val="FFFF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4826804" y="1776512"/>
            <a:ext cx="2648817" cy="2659130"/>
          </a:xfrm>
          <a:prstGeom prst="roundRect">
            <a:avLst>
              <a:gd name="adj" fmla="val 3411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en-IN">
              <a:latin typeface="Arial Rounded MT Bold" panose="020F070403050403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013629" y="1963341"/>
            <a:ext cx="2349698" cy="2968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Arial Rounded MT Bold" panose="020F0704030504030204" pitchFamily="34" charset="0"/>
                <a:ea typeface="Dela Gothic One" pitchFamily="34" charset="-122"/>
                <a:cs typeface="Dela Gothic One" pitchFamily="34" charset="-120"/>
              </a:rPr>
              <a:t>Essential Role</a:t>
            </a:r>
            <a:endParaRPr lang="en-US" sz="1850" dirty="0">
              <a:latin typeface="Arial Rounded MT Bold" panose="020F070403050403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013628" y="2368451"/>
            <a:ext cx="2229383" cy="1444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lnSpc>
                <a:spcPct val="133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Arial Rounded MT Bold" panose="020F0704030504030204" pitchFamily="34" charset="0"/>
                <a:ea typeface="DM Sans" pitchFamily="34" charset="-122"/>
                <a:cs typeface="DM Sans" pitchFamily="34" charset="-120"/>
              </a:rPr>
              <a:t>Decoders underpin </a:t>
            </a:r>
            <a:r>
              <a:rPr lang="en-US" sz="1600" b="1" dirty="0">
                <a:solidFill>
                  <a:srgbClr val="FFE5E5"/>
                </a:solidFill>
                <a:latin typeface="Arial Rounded MT Bold" panose="020F0704030504030204" pitchFamily="34" charset="0"/>
                <a:ea typeface="DM Sans Bold" pitchFamily="34" charset="-122"/>
                <a:cs typeface="DM Sans Bold" pitchFamily="34" charset="-120"/>
              </a:rPr>
              <a:t>sequencing, memory selection, and code conversion</a:t>
            </a:r>
            <a:r>
              <a:rPr lang="en-US" sz="1600" dirty="0">
                <a:solidFill>
                  <a:srgbClr val="FFE5E5"/>
                </a:solidFill>
                <a:latin typeface="Arial Rounded MT Bold" panose="020F0704030504030204" pitchFamily="34" charset="0"/>
                <a:ea typeface="DM Sans" pitchFamily="34" charset="-122"/>
                <a:cs typeface="DM Sans" pitchFamily="34" charset="-120"/>
              </a:rPr>
              <a:t> in every modern processor and digital system.</a:t>
            </a:r>
            <a:endParaRPr lang="en-US" sz="1600" dirty="0">
              <a:latin typeface="Arial Rounded MT Bold" panose="020F0704030504030204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7798210" y="1776512"/>
            <a:ext cx="2900984" cy="2659130"/>
          </a:xfrm>
          <a:prstGeom prst="roundRect">
            <a:avLst>
              <a:gd name="adj" fmla="val 3411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7985033" y="1963341"/>
            <a:ext cx="2538588" cy="2968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latin typeface="Arial Rounded MT Bold" panose="020F0704030504030204" pitchFamily="34" charset="0"/>
                <a:ea typeface="Dela Gothic One" pitchFamily="34" charset="-122"/>
                <a:cs typeface="Dela Gothic One" pitchFamily="34" charset="-120"/>
              </a:rPr>
              <a:t>Scalable Design</a:t>
            </a:r>
            <a:endParaRPr lang="en-US" sz="1850" dirty="0">
              <a:latin typeface="Arial Rounded MT Bold" panose="020F070403050403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7985033" y="2368451"/>
            <a:ext cx="2714160" cy="1444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Arial Rounded MT Bold" panose="020F0704030504030204" pitchFamily="34" charset="0"/>
                <a:ea typeface="DM Sans" pitchFamily="34" charset="-122"/>
                <a:cs typeface="DM Sans" pitchFamily="34" charset="-120"/>
              </a:rPr>
              <a:t>Through hierarchical construction and Enable signals, simple 2-to-4 blocks scale into </a:t>
            </a:r>
            <a:r>
              <a:rPr lang="en-US" sz="1600" dirty="0">
                <a:solidFill>
                  <a:schemeClr val="accent3"/>
                </a:solidFill>
                <a:latin typeface="Arial Rounded MT Bold" panose="020F0704030504030204" pitchFamily="34" charset="0"/>
                <a:ea typeface="DM Sans" pitchFamily="34" charset="-122"/>
                <a:cs typeface="DM Sans" pitchFamily="34" charset="-120"/>
              </a:rPr>
              <a:t>complex, production-grade architectures.</a:t>
            </a:r>
            <a:endParaRPr lang="en-US" sz="1600" dirty="0">
              <a:solidFill>
                <a:schemeClr val="accent3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826804" y="4784279"/>
            <a:ext cx="6355993" cy="1356618"/>
          </a:xfrm>
          <a:prstGeom prst="roundRect">
            <a:avLst>
              <a:gd name="adj" fmla="val 5590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5013628" y="4893092"/>
            <a:ext cx="3143783" cy="2968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Arial Rounded MT Bold" panose="020F0704030504030204" pitchFamily="34" charset="0"/>
                <a:ea typeface="Dela Gothic One" pitchFamily="34" charset="-122"/>
                <a:cs typeface="Dela Gothic One" pitchFamily="34" charset="-120"/>
              </a:rPr>
              <a:t>Engineering Mastery</a:t>
            </a:r>
            <a:endParaRPr lang="en-US" sz="1600" dirty="0">
              <a:latin typeface="Arial Rounded MT Bold" panose="020F070403050403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993861" y="5249667"/>
            <a:ext cx="598234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Arial Rounded MT Bold" panose="020F0704030504030204" pitchFamily="34" charset="0"/>
                <a:ea typeface="DM Sans" pitchFamily="34" charset="-122"/>
                <a:cs typeface="DM Sans" pitchFamily="34" charset="-120"/>
              </a:rPr>
              <a:t>By mastering these building blocks, engineers construct the </a:t>
            </a:r>
            <a:r>
              <a:rPr lang="en-US" sz="1600" b="1" dirty="0">
                <a:solidFill>
                  <a:srgbClr val="FFE5E5"/>
                </a:solidFill>
                <a:latin typeface="Arial Rounded MT Bold" panose="020F0704030504030204" pitchFamily="34" charset="0"/>
                <a:ea typeface="DM Sans Bold" pitchFamily="34" charset="-122"/>
                <a:cs typeface="DM Sans Bold" pitchFamily="34" charset="-120"/>
              </a:rPr>
              <a:t>hierarchical systems</a:t>
            </a:r>
            <a:r>
              <a:rPr lang="en-US" sz="1600" dirty="0">
                <a:solidFill>
                  <a:srgbClr val="FFE5E5"/>
                </a:solidFill>
                <a:latin typeface="Arial Rounded MT Bold" panose="020F0704030504030204" pitchFamily="34" charset="0"/>
                <a:ea typeface="DM Sans" pitchFamily="34" charset="-122"/>
                <a:cs typeface="DM Sans" pitchFamily="34" charset="-120"/>
              </a:rPr>
              <a:t> that power today's computing era.</a:t>
            </a:r>
            <a:endParaRPr lang="en-US" sz="1600" dirty="0">
              <a:latin typeface="Arial Rounded MT Bold" panose="020F070403050403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1045675" y="6556248"/>
            <a:ext cx="1146019" cy="301752"/>
          </a:xfrm>
          <a:prstGeom prst="rect">
            <a:avLst/>
          </a:prstGeom>
          <a:solidFill>
            <a:srgbClr val="0A09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241140" y="170794"/>
            <a:ext cx="10927878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FFFF00"/>
                </a:solidFill>
                <a:latin typeface="Arial Rounded MT Bold" panose="020F0704030504030204" pitchFamily="34" charset="0"/>
                <a:ea typeface="Dela Gothic One" pitchFamily="34" charset="-122"/>
                <a:cs typeface="Dela Gothic One" pitchFamily="34" charset="-120"/>
              </a:rPr>
              <a:t>Decoder Circuits: 2-to-4 &amp; 3-to-8</a:t>
            </a:r>
            <a:endParaRPr lang="en-US" sz="2800" b="1" dirty="0">
              <a:solidFill>
                <a:srgbClr val="FFFF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1045675" y="6556248"/>
            <a:ext cx="1146019" cy="301752"/>
          </a:xfrm>
          <a:prstGeom prst="rect">
            <a:avLst/>
          </a:prstGeom>
          <a:solidFill>
            <a:srgbClr val="0A09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0" name="Decoder circuits" descr="2-to-4 and 3-to-8 decoder circuit diagrams with working principl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4300" y="640000"/>
            <a:ext cx="8703399" cy="580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7680960" y="1188720"/>
            <a:ext cx="3200400" cy="0"/>
          </a:xfrm>
          <a:prstGeom prst="line">
            <a:avLst/>
          </a:prstGeom>
          <a:ln w="25400">
            <a:solidFill>
              <a:srgbClr val="00D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881360" y="1188720"/>
            <a:ext cx="0" cy="640080"/>
          </a:xfrm>
          <a:prstGeom prst="line">
            <a:avLst/>
          </a:prstGeom>
          <a:ln w="25400">
            <a:solidFill>
              <a:srgbClr val="00D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138160" y="5303520"/>
            <a:ext cx="3200400" cy="0"/>
          </a:xfrm>
          <a:prstGeom prst="line">
            <a:avLst/>
          </a:prstGeom>
          <a:ln w="25400">
            <a:solidFill>
              <a:srgbClr val="00D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1338560" y="4480560"/>
            <a:ext cx="0" cy="822960"/>
          </a:xfrm>
          <a:prstGeom prst="line">
            <a:avLst/>
          </a:prstGeom>
          <a:ln w="25400">
            <a:solidFill>
              <a:srgbClr val="00D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86800" y="2011680"/>
            <a:ext cx="1097280" cy="0"/>
          </a:xfrm>
          <a:prstGeom prst="line">
            <a:avLst/>
          </a:prstGeom>
          <a:ln w="25400">
            <a:solidFill>
              <a:srgbClr val="00D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784080" y="2011680"/>
            <a:ext cx="0" cy="731520"/>
          </a:xfrm>
          <a:prstGeom prst="line">
            <a:avLst/>
          </a:prstGeom>
          <a:ln w="25400">
            <a:solidFill>
              <a:srgbClr val="00D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7616952" y="1124712"/>
            <a:ext cx="128016" cy="128016"/>
          </a:xfrm>
          <a:prstGeom prst="ellipse">
            <a:avLst/>
          </a:prstGeom>
          <a:solidFill>
            <a:srgbClr val="FFC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817352" y="1764792"/>
            <a:ext cx="128016" cy="128016"/>
          </a:xfrm>
          <a:prstGeom prst="ellipse">
            <a:avLst/>
          </a:prstGeom>
          <a:solidFill>
            <a:srgbClr val="FFC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74152" y="5239512"/>
            <a:ext cx="128016" cy="128016"/>
          </a:xfrm>
          <a:prstGeom prst="ellipse">
            <a:avLst/>
          </a:prstGeom>
          <a:solidFill>
            <a:srgbClr val="FFC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74552" y="4416552"/>
            <a:ext cx="128016" cy="128016"/>
          </a:xfrm>
          <a:prstGeom prst="ellipse">
            <a:avLst/>
          </a:prstGeom>
          <a:solidFill>
            <a:srgbClr val="FFC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622792" y="1947672"/>
            <a:ext cx="128016" cy="128016"/>
          </a:xfrm>
          <a:prstGeom prst="ellipse">
            <a:avLst/>
          </a:prstGeom>
          <a:solidFill>
            <a:srgbClr val="FFC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720072" y="2679192"/>
            <a:ext cx="128016" cy="128016"/>
          </a:xfrm>
          <a:prstGeom prst="ellipse">
            <a:avLst/>
          </a:prstGeom>
          <a:solidFill>
            <a:srgbClr val="FFC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1325880"/>
            <a:ext cx="6583680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4600" b="1">
                <a:solidFill>
                  <a:srgbClr val="F5F8FF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" y="2487168"/>
            <a:ext cx="1508760" cy="64008"/>
          </a:xfrm>
          <a:prstGeom prst="rect">
            <a:avLst/>
          </a:prstGeom>
          <a:solidFill>
            <a:srgbClr val="00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2788920"/>
            <a:ext cx="6126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CD46"/>
                </a:solidFill>
                <a:latin typeface="Aptos"/>
              </a:defRPr>
            </a:pPr>
            <a:r>
              <a:t>Your turn: Which output activates for input 10?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474720"/>
            <a:ext cx="5852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ABED7"/>
                </a:solidFill>
                <a:latin typeface="Aptos"/>
              </a:defRPr>
            </a:pPr>
            <a:r>
              <a:t>Take a guess — then revisit the decoder diagram.</a:t>
            </a:r>
          </a:p>
        </p:txBody>
      </p:sp>
      <p:sp>
        <p:nvSpPr>
          <p:cNvPr id="22" name="Rounded Rectangle 21">
            <a:hlinkClick action="ppaction://hlinksldjump" r:id="rId2"/>
          </p:cNvPr>
          <p:cNvSpPr/>
          <p:nvPr/>
        </p:nvSpPr>
        <p:spPr>
          <a:xfrm>
            <a:off x="960120" y="4251960"/>
            <a:ext cx="3063240" cy="621792"/>
          </a:xfrm>
          <a:prstGeom prst="roundRect">
            <a:avLst/>
          </a:prstGeom>
          <a:solidFill>
            <a:srgbClr val="00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81126"/>
                </a:solidFill>
                <a:latin typeface="Aptos"/>
              </a:defRPr>
            </a:pPr>
            <a:r>
              <a:t>REVISIT DECODER DIAGRAM  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98932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BED7"/>
                </a:solidFill>
                <a:latin typeface="Aptos"/>
              </a:defRPr>
            </a:pPr>
            <a:r>
              <a:t>Questions, thoughts, or a real-world example? We’d love to hear it.</a:t>
            </a:r>
          </a:p>
        </p:txBody>
      </p:sp>
    </p:spTree>
    <p:extLst>
      <p:ext uri="{BB962C8B-B14F-4D97-AF65-F5344CB8AC3E}">
        <p14:creationId xmlns:p14="http://schemas.microsoft.com/office/powerpoint/2010/main" val="849599637"/>
      </p:ext>
    </p:extLst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TM02836342[[fn=Ion]]</Template>
  <TotalTime>72</TotalTime>
  <Words>656</Words>
  <Application>Microsoft Office PowerPoint</Application>
  <PresentationFormat>Widescreen</PresentationFormat>
  <Paragraphs>77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DM Sans</vt:lpstr>
      <vt:lpstr>Arial Rounded MT Bold</vt:lpstr>
      <vt:lpstr>Dela Gothic One</vt:lpstr>
      <vt:lpstr>Berlin Sans FB Demi</vt:lpstr>
      <vt:lpstr>Arial</vt:lpstr>
      <vt:lpstr>Wingdings 3</vt:lpstr>
      <vt:lpstr>DM Sans Bold</vt:lpstr>
      <vt:lpstr>Century Gothic</vt:lpstr>
      <vt:lpstr>Arial Black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ardhi neeraj</cp:lastModifiedBy>
  <cp:revision>19</cp:revision>
  <dcterms:created xsi:type="dcterms:W3CDTF">2026-10-08T14:24:26Z</dcterms:created>
  <dcterms:modified xsi:type="dcterms:W3CDTF">2026-10-14T13:36:01Z</dcterms:modified>
</cp:coreProperties>
</file>